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8" r:id="rId11"/>
    <p:sldId id="275" r:id="rId12"/>
    <p:sldId id="276" r:id="rId13"/>
    <p:sldId id="277" r:id="rId14"/>
    <p:sldId id="27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64EFEE-8FC2-43E4-AD4D-BA81871F902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DBDD4-33EA-4567-A42C-A5B7134DDB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4875A-EDAC-4DEB-AFCB-73B92CC6AB5E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D9BE-B0BB-4984-BA76-38CFA50C9E6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6671-4658-1089-3B1D-001BEF12C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5EC4AFCD-ADCD-727B-D875-03DE3DBE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64" name="图片 8">
            <a:extLst>
              <a:ext uri="{FF2B5EF4-FFF2-40B4-BE49-F238E27FC236}">
                <a16:creationId xmlns:a16="http://schemas.microsoft.com/office/drawing/2014/main" id="{EE9EEB11-5028-EADB-3E31-D6C381E026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65" name="图片 9">
            <a:extLst>
              <a:ext uri="{FF2B5EF4-FFF2-40B4-BE49-F238E27FC236}">
                <a16:creationId xmlns:a16="http://schemas.microsoft.com/office/drawing/2014/main" id="{C0AA3E68-554D-0F2E-96A7-5D57E73875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BAA5507-13E5-1453-F977-0B67F05B8266}"/>
              </a:ext>
            </a:extLst>
          </p:cNvPr>
          <p:cNvSpPr txBox="1"/>
          <p:nvPr/>
        </p:nvSpPr>
        <p:spPr>
          <a:xfrm>
            <a:off x="434866" y="2245919"/>
            <a:ext cx="11322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简易电路特性测试仪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40C62B-E63C-B973-0119-379428DE0681}"/>
              </a:ext>
            </a:extLst>
          </p:cNvPr>
          <p:cNvSpPr txBox="1"/>
          <p:nvPr/>
        </p:nvSpPr>
        <p:spPr>
          <a:xfrm>
            <a:off x="1755885" y="3923336"/>
            <a:ext cx="8680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2019</a:t>
            </a:r>
            <a:r>
              <a:rPr lang="zh-CN" altLang="en-US" sz="3200" dirty="0"/>
              <a:t>年全国大学生电子设计竞赛试题（</a:t>
            </a:r>
            <a:r>
              <a:rPr lang="en-US" altLang="zh-CN" sz="3200" dirty="0"/>
              <a:t>D</a:t>
            </a:r>
            <a:r>
              <a:rPr lang="zh-CN" altLang="en-US" sz="3200" dirty="0"/>
              <a:t>题）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A8E017-90C9-2084-870C-089A9F40A466}"/>
              </a:ext>
            </a:extLst>
          </p:cNvPr>
          <p:cNvSpPr txBox="1"/>
          <p:nvPr/>
        </p:nvSpPr>
        <p:spPr>
          <a:xfrm>
            <a:off x="4708864" y="4511123"/>
            <a:ext cx="277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2025</a:t>
            </a:r>
            <a:r>
              <a:rPr lang="zh-CN" altLang="en-US" sz="3200" dirty="0"/>
              <a:t>年</a:t>
            </a:r>
            <a:r>
              <a:rPr lang="en-US" altLang="zh-CN" sz="3200" dirty="0"/>
              <a:t>7</a:t>
            </a:r>
            <a:r>
              <a:rPr lang="zh-CN" altLang="en-US" sz="3200" dirty="0"/>
              <a:t>月</a:t>
            </a:r>
            <a:r>
              <a:rPr lang="en-US" altLang="zh-CN" sz="3200" dirty="0"/>
              <a:t>14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11393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EC2B9-DACB-11FC-9F5F-DBD4B73C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2C07F124-3702-B529-42C7-B23F97C17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557"/>
            <a:ext cx="2650615" cy="1552860"/>
          </a:xfrm>
          <a:prstGeom prst="rect">
            <a:avLst/>
          </a:prstGeom>
          <a:noFill/>
        </p:spPr>
      </p:pic>
      <p:pic>
        <p:nvPicPr>
          <p:cNvPr id="64" name="图片 8">
            <a:extLst>
              <a:ext uri="{FF2B5EF4-FFF2-40B4-BE49-F238E27FC236}">
                <a16:creationId xmlns:a16="http://schemas.microsoft.com/office/drawing/2014/main" id="{EEA2F326-4161-479E-74B4-1E2B4176D2A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duotone>
              <a:srgbClr val="EE464C">
                <a:shade val="45000"/>
                <a:satMod val="135000"/>
              </a:srgbClr>
              <a:prstClr val="white"/>
            </a:duotone>
          </a:blip>
          <a:srcRect l="57672" t="278" r="313" b="1"/>
          <a:stretch>
            <a:fillRect/>
          </a:stretch>
        </p:blipFill>
        <p:spPr>
          <a:xfrm rot="5400000" flipV="1">
            <a:off x="8470951" y="3136951"/>
            <a:ext cx="31877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pic>
        <p:nvPicPr>
          <p:cNvPr id="65" name="图片 9">
            <a:extLst>
              <a:ext uri="{FF2B5EF4-FFF2-40B4-BE49-F238E27FC236}">
                <a16:creationId xmlns:a16="http://schemas.microsoft.com/office/drawing/2014/main" id="{57BE758D-2759-83C7-42DC-675D1FAB8E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/>
          <a:srcRect l="54492" t="278" r="313" b="1"/>
          <a:stretch>
            <a:fillRect/>
          </a:stretch>
        </p:blipFill>
        <p:spPr>
          <a:xfrm rot="16200000" flipV="1">
            <a:off x="412699" y="-412699"/>
            <a:ext cx="3429000" cy="4254398"/>
          </a:xfrm>
          <a:custGeom>
            <a:avLst/>
            <a:gdLst>
              <a:gd name="connsiteX0" fmla="*/ 6878636 w 6878636"/>
              <a:gd name="connsiteY0" fmla="*/ 4267200 h 4267200"/>
              <a:gd name="connsiteX1" fmla="*/ 6878636 w 6878636"/>
              <a:gd name="connsiteY1" fmla="*/ 0 h 4267200"/>
              <a:gd name="connsiteX2" fmla="*/ 0 w 6878636"/>
              <a:gd name="connsiteY2" fmla="*/ 0 h 4267200"/>
              <a:gd name="connsiteX3" fmla="*/ 0 w 6878636"/>
              <a:gd name="connsiteY3" fmla="*/ 4267200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78636" h="4267200">
                <a:moveTo>
                  <a:pt x="6878636" y="4267200"/>
                </a:moveTo>
                <a:lnTo>
                  <a:pt x="6878636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24E859D-06CD-3273-834E-FA6AE3087D69}"/>
              </a:ext>
            </a:extLst>
          </p:cNvPr>
          <p:cNvSpPr txBox="1"/>
          <p:nvPr/>
        </p:nvSpPr>
        <p:spPr>
          <a:xfrm>
            <a:off x="3146535" y="312016"/>
            <a:ext cx="26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题目要求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21FCC0-A966-2D8D-3B9B-014525E27D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389"/>
          <a:stretch>
            <a:fillRect/>
          </a:stretch>
        </p:blipFill>
        <p:spPr>
          <a:xfrm>
            <a:off x="7728257" y="951903"/>
            <a:ext cx="4254399" cy="495419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7A0D85-C4C3-0134-CC72-097B6721455E}"/>
              </a:ext>
            </a:extLst>
          </p:cNvPr>
          <p:cNvSpPr txBox="1"/>
          <p:nvPr/>
        </p:nvSpPr>
        <p:spPr>
          <a:xfrm>
            <a:off x="226162" y="1690116"/>
            <a:ext cx="7502095" cy="221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设计制作一个测试仪：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测量特定放大电路的特性（基础部分）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判断放大器故障原因（发挥部分）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53C25F-74BD-0B40-E4CA-0F7464852564}"/>
              </a:ext>
            </a:extLst>
          </p:cNvPr>
          <p:cNvSpPr txBox="1"/>
          <p:nvPr/>
        </p:nvSpPr>
        <p:spPr>
          <a:xfrm>
            <a:off x="139727" y="5264150"/>
            <a:ext cx="76749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注意：该测试仪仅有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一个输入端口和一 个输出端口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，与特定放大器电路连接 如图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所示。 </a:t>
            </a:r>
          </a:p>
        </p:txBody>
      </p:sp>
    </p:spTree>
    <p:extLst>
      <p:ext uri="{BB962C8B-B14F-4D97-AF65-F5344CB8AC3E}">
        <p14:creationId xmlns:p14="http://schemas.microsoft.com/office/powerpoint/2010/main" val="322837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02C8F-48DD-6C80-76F0-062EF196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754DB884-F803-9C44-67E6-212149ACA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EFDC45D-571F-0238-32EB-0A641AFC7389}"/>
              </a:ext>
            </a:extLst>
          </p:cNvPr>
          <p:cNvSpPr txBox="1"/>
          <p:nvPr/>
        </p:nvSpPr>
        <p:spPr>
          <a:xfrm>
            <a:off x="319253" y="277719"/>
            <a:ext cx="26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测试方法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0CC837-5228-AFB4-F71F-8D5F3ABC54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40"/>
          <a:stretch>
            <a:fillRect/>
          </a:stretch>
        </p:blipFill>
        <p:spPr>
          <a:xfrm>
            <a:off x="124544" y="1744720"/>
            <a:ext cx="11942911" cy="452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62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F816-7782-6736-7962-8B9EF8FE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851AEE3E-93DE-45BA-81DD-E139B24B5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69C75E-3769-CC2B-20CD-E7BF0D98AD50}"/>
              </a:ext>
            </a:extLst>
          </p:cNvPr>
          <p:cNvSpPr txBox="1"/>
          <p:nvPr/>
        </p:nvSpPr>
        <p:spPr>
          <a:xfrm>
            <a:off x="319253" y="277719"/>
            <a:ext cx="26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测试方法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6D4E0D-8D09-A531-DC1C-6B1D2B9C6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14" y="1594900"/>
            <a:ext cx="11960772" cy="450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0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03F5-480D-C560-2CC4-7B8AEB20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3079F231-4D81-8CC2-9768-1E8B483DC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DCFA112-F2ED-D1D6-EDC0-C8E1037036AD}"/>
              </a:ext>
            </a:extLst>
          </p:cNvPr>
          <p:cNvSpPr txBox="1"/>
          <p:nvPr/>
        </p:nvSpPr>
        <p:spPr>
          <a:xfrm>
            <a:off x="319253" y="277719"/>
            <a:ext cx="26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431F5D-E739-E7BD-65D7-86B4FF90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89"/>
          <a:stretch>
            <a:fillRect/>
          </a:stretch>
        </p:blipFill>
        <p:spPr>
          <a:xfrm>
            <a:off x="7536280" y="1552860"/>
            <a:ext cx="4411191" cy="51367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02E8FDE-687E-5A3D-B399-33D5F4A06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94" y="1620506"/>
            <a:ext cx="6965567" cy="495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7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95297-ADC4-6071-C380-F7ED3968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2FB90ED1-9B84-F613-021F-A68E48F719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88E0BA-5BD7-932A-F9C3-95163A55E6BF}"/>
              </a:ext>
            </a:extLst>
          </p:cNvPr>
          <p:cNvSpPr txBox="1"/>
          <p:nvPr/>
        </p:nvSpPr>
        <p:spPr>
          <a:xfrm>
            <a:off x="94452" y="168365"/>
            <a:ext cx="9923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电阻开路（静态分析）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602B99-A8FC-0BE4-F376-5F7CF8E53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89"/>
          <a:stretch>
            <a:fillRect/>
          </a:stretch>
        </p:blipFill>
        <p:spPr>
          <a:xfrm>
            <a:off x="7536280" y="1552860"/>
            <a:ext cx="4411191" cy="51367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F4EA724-DB7D-32E2-6B2B-FE3E2313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12" y="1247904"/>
            <a:ext cx="6988414" cy="544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795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9A9F-986F-4F2B-9C7A-A1A8F008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EE2EE70C-7CFB-9273-5CB2-9544385D7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E7A8EC1-F4D6-5B9B-540D-3336D36F2400}"/>
              </a:ext>
            </a:extLst>
          </p:cNvPr>
          <p:cNvSpPr txBox="1"/>
          <p:nvPr/>
        </p:nvSpPr>
        <p:spPr>
          <a:xfrm>
            <a:off x="94452" y="168365"/>
            <a:ext cx="9923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电阻短路（静态分析）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74361AB-A3D7-4F2D-F31F-D6C0B939A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89"/>
          <a:stretch>
            <a:fillRect/>
          </a:stretch>
        </p:blipFill>
        <p:spPr>
          <a:xfrm>
            <a:off x="7536280" y="1552860"/>
            <a:ext cx="4411191" cy="51367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06E730-A9BE-E8DD-362E-3305AEF5D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77" y="1700286"/>
            <a:ext cx="6584315" cy="471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5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F965-61C6-F780-A304-6694F992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6A9FB6E5-DDCE-19EC-A787-74ADDBC1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34044" y="0"/>
            <a:ext cx="2650615" cy="155286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8284E6-8268-4950-B57F-8B44AD8C4522}"/>
              </a:ext>
            </a:extLst>
          </p:cNvPr>
          <p:cNvSpPr txBox="1"/>
          <p:nvPr/>
        </p:nvSpPr>
        <p:spPr>
          <a:xfrm>
            <a:off x="267172" y="1683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故障分析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电容（交流分析）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09E3E1-1443-FE39-3B94-A6C10885D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89"/>
          <a:stretch>
            <a:fillRect/>
          </a:stretch>
        </p:blipFill>
        <p:spPr>
          <a:xfrm>
            <a:off x="7536280" y="1552860"/>
            <a:ext cx="4411191" cy="51367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6E68A2-1073-5ADA-9DA3-3BE8BE05C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820" y="1182975"/>
            <a:ext cx="6057900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13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8113-BB7C-AE0E-FF43-A9563FDF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BDC7609D-D78F-93C9-0E38-4E6010766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4ED37E-8789-B496-7DE9-DFAFDE865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531" y="501522"/>
            <a:ext cx="9752406" cy="448645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C79D557-33C7-6584-A9F5-A787A700D6D9}"/>
              </a:ext>
            </a:extLst>
          </p:cNvPr>
          <p:cNvSpPr txBox="1"/>
          <p:nvPr/>
        </p:nvSpPr>
        <p:spPr>
          <a:xfrm>
            <a:off x="267172" y="667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整体方案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CEB6DB8-8D8C-7837-DF6F-CB2C354AFE7C}"/>
              </a:ext>
            </a:extLst>
          </p:cNvPr>
          <p:cNvSpPr txBox="1"/>
          <p:nvPr/>
        </p:nvSpPr>
        <p:spPr>
          <a:xfrm>
            <a:off x="872531" y="5106352"/>
            <a:ext cx="103339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电路产生正弦波信号，经过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衰减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变为小信号输入测试电路，小信号经过放大电路进入一路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采样电路；测试电路输出的信号通过干簧管继电器可切换至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交流耦合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直流耦合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模式，其中，直流耦合将信号进行电阻分压，交流耦合将交流信号抬升进入另一路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采样电路；可通过切换至相应的模式测量相应参数并检测故障。两路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采样电路进行采集后输入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STM32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进行计算处理，最后在串口屏上显示结果。 </a:t>
            </a:r>
          </a:p>
        </p:txBody>
      </p:sp>
    </p:spTree>
    <p:extLst>
      <p:ext uri="{BB962C8B-B14F-4D97-AF65-F5344CB8AC3E}">
        <p14:creationId xmlns:p14="http://schemas.microsoft.com/office/powerpoint/2010/main" val="425517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A2901-84E0-054D-9AAD-CF9EE4959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03FB193B-2355-7AD0-9C77-63C147AAF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5769F76-3203-0F88-6142-EC66638C2034}"/>
              </a:ext>
            </a:extLst>
          </p:cNvPr>
          <p:cNvSpPr txBox="1"/>
          <p:nvPr/>
        </p:nvSpPr>
        <p:spPr>
          <a:xfrm>
            <a:off x="267172" y="175622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注意事项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22B774-E81E-6AEC-36C3-F647405395CC}"/>
              </a:ext>
            </a:extLst>
          </p:cNvPr>
          <p:cNvSpPr txBox="1"/>
          <p:nvPr/>
        </p:nvSpPr>
        <p:spPr>
          <a:xfrm>
            <a:off x="819978" y="2128900"/>
            <a:ext cx="10333949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DDS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输出应该经过运放驱动，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单片机底板上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接口后方最好有电压跟随器（或放大器），保证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的输入为高阻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注意运放选型</a:t>
            </a:r>
          </a:p>
        </p:txBody>
      </p:sp>
    </p:spTree>
    <p:extLst>
      <p:ext uri="{BB962C8B-B14F-4D97-AF65-F5344CB8AC3E}">
        <p14:creationId xmlns:p14="http://schemas.microsoft.com/office/powerpoint/2010/main" val="747878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CA313-D289-A42F-89EB-B72F8215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1591042D-450B-CBBC-6DF5-E030FCB9B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21F8F46-C242-DBB2-5D84-9BF425129E7D}"/>
              </a:ext>
            </a:extLst>
          </p:cNvPr>
          <p:cNvSpPr txBox="1"/>
          <p:nvPr/>
        </p:nvSpPr>
        <p:spPr>
          <a:xfrm>
            <a:off x="267172" y="667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参考电路图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前端调理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D03B5C-14CC-7D20-A673-61360094E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161" y="1188720"/>
            <a:ext cx="7974996" cy="346646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E802E4B-C18E-2CDA-DBC0-CA7F40E7F3DB}"/>
              </a:ext>
            </a:extLst>
          </p:cNvPr>
          <p:cNvSpPr txBox="1"/>
          <p:nvPr/>
        </p:nvSpPr>
        <p:spPr>
          <a:xfrm>
            <a:off x="822960" y="4976782"/>
            <a:ext cx="105460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前端调理：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采用分压电路对信号进行衰减，然后通过电压跟随器减少对后续电路的影响。其中开关可控制电路是否进行输入电阻的测量，随后根据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的输入范围对信号进行放大以满足输入范围。 </a:t>
            </a:r>
          </a:p>
        </p:txBody>
      </p:sp>
    </p:spTree>
    <p:extLst>
      <p:ext uri="{BB962C8B-B14F-4D97-AF65-F5344CB8AC3E}">
        <p14:creationId xmlns:p14="http://schemas.microsoft.com/office/powerpoint/2010/main" val="286302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F4AC-36E7-BFE0-3300-E71BAD3B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96975C23-1B26-C397-8D98-898997525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7B23BE1-746B-AF51-AC65-7DDB3082AFE8}"/>
              </a:ext>
            </a:extLst>
          </p:cNvPr>
          <p:cNvSpPr txBox="1"/>
          <p:nvPr/>
        </p:nvSpPr>
        <p:spPr>
          <a:xfrm>
            <a:off x="267172" y="667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参考电路图</a:t>
            </a:r>
            <a:r>
              <a:rPr lang="en-US" altLang="zh-CN" sz="4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后端调理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D66E1E-4535-6294-3ABD-21D3159B5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526" y="1090802"/>
            <a:ext cx="8541548" cy="393872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11DCDE5-6DB4-C84E-B0F8-14B55926FDFA}"/>
              </a:ext>
            </a:extLst>
          </p:cNvPr>
          <p:cNvSpPr txBox="1"/>
          <p:nvPr/>
        </p:nvSpPr>
        <p:spPr>
          <a:xfrm>
            <a:off x="779921" y="4950678"/>
            <a:ext cx="105460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后端调理：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信号经开关（左）的控制可测量输出电阻，设计电压跟随器减少对后端电路的影响， 随后信号分为两路，一路进行滤波并对得到的交流信号叠加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的直流分量，另一路直接对信号进行分压（衰减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倍），这样通过控制开关可测量不同的量。 </a:t>
            </a:r>
          </a:p>
        </p:txBody>
      </p:sp>
    </p:spTree>
    <p:extLst>
      <p:ext uri="{BB962C8B-B14F-4D97-AF65-F5344CB8AC3E}">
        <p14:creationId xmlns:p14="http://schemas.microsoft.com/office/powerpoint/2010/main" val="1052823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D4F9D-5CD4-24EF-AE4D-8E46FB5E8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F982E15C-F0EF-35FB-D7FF-5087897F8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D09C941-872D-47D7-B41A-197D7D7BB145}"/>
              </a:ext>
            </a:extLst>
          </p:cNvPr>
          <p:cNvSpPr txBox="1"/>
          <p:nvPr/>
        </p:nvSpPr>
        <p:spPr>
          <a:xfrm>
            <a:off x="267172" y="667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继电器驱动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32A584-79E1-544A-ADEB-224FDD4CB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92" y="1371486"/>
            <a:ext cx="6185097" cy="47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23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6F18-C798-D810-AFB8-B476D42D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2" descr="全国大学生电子设计竞赛 - 知乎">
            <a:extLst>
              <a:ext uri="{FF2B5EF4-FFF2-40B4-BE49-F238E27FC236}">
                <a16:creationId xmlns:a16="http://schemas.microsoft.com/office/drawing/2014/main" id="{D0F7603B-5F89-0B8F-CAF9-7C7655B55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73083" y="91440"/>
            <a:ext cx="1705836" cy="999362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7A15DF6-9961-8378-F43B-1A82869A34C6}"/>
              </a:ext>
            </a:extLst>
          </p:cNvPr>
          <p:cNvSpPr txBox="1"/>
          <p:nvPr/>
        </p:nvSpPr>
        <p:spPr>
          <a:xfrm>
            <a:off x="267172" y="66765"/>
            <a:ext cx="85415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黑体" panose="02010609060101010101" pitchFamily="49" charset="-122"/>
                <a:ea typeface="黑体" panose="02010609060101010101" pitchFamily="49" charset="-122"/>
              </a:rPr>
              <a:t>材料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ACCDBE-45C8-DFFA-BB39-4EECFE7E1EEC}"/>
              </a:ext>
            </a:extLst>
          </p:cNvPr>
          <p:cNvSpPr txBox="1"/>
          <p:nvPr/>
        </p:nvSpPr>
        <p:spPr>
          <a:xfrm>
            <a:off x="819978" y="2128900"/>
            <a:ext cx="10333949" cy="194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搭建电路所需材料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OPA1612*2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OPA1678*2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OPA2211*1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（备用）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干簧管继电器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*4</a:t>
            </a:r>
          </a:p>
        </p:txBody>
      </p:sp>
    </p:spTree>
    <p:extLst>
      <p:ext uri="{BB962C8B-B14F-4D97-AF65-F5344CB8AC3E}">
        <p14:creationId xmlns:p14="http://schemas.microsoft.com/office/powerpoint/2010/main" val="357268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403</Words>
  <Application>Microsoft Office PowerPoint</Application>
  <PresentationFormat>宽屏</PresentationFormat>
  <Paragraphs>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黑体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李世顺</dc:creator>
  <cp:lastModifiedBy>世顺 李</cp:lastModifiedBy>
  <cp:revision>31</cp:revision>
  <dcterms:created xsi:type="dcterms:W3CDTF">2025-07-09T18:34:52Z</dcterms:created>
  <dcterms:modified xsi:type="dcterms:W3CDTF">2025-07-16T10:57:46Z</dcterms:modified>
</cp:coreProperties>
</file>