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4" r:id="rId4"/>
    <p:sldId id="259" r:id="rId5"/>
    <p:sldId id="260" r:id="rId6"/>
    <p:sldId id="261" r:id="rId7"/>
    <p:sldId id="263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4EFEE-8FC2-43E4-AD4D-BA81871F902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DBDD4-33EA-4567-A42C-A5B7134DDB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全国大学生电子设计竞赛 - 知乎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3" name="图片 8"/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4" name="图片 9"/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5" name="文本框 25"/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硬件问题</a:t>
            </a:r>
            <a:endParaRPr/>
          </a:p>
        </p:txBody>
      </p:sp>
      <p:grpSp>
        <p:nvGrpSpPr>
          <p:cNvPr id="6" name="组合 38"/>
          <p:cNvGrpSpPr/>
          <p:nvPr/>
        </p:nvGrpSpPr>
        <p:grpSpPr>
          <a:xfrm>
            <a:off x="2836291" y="1101310"/>
            <a:ext cx="8054213" cy="1237984"/>
            <a:chOff x="874712" y="3387780"/>
            <a:chExt cx="8054213" cy="1237984"/>
          </a:xfrm>
        </p:grpSpPr>
        <p:sp>
          <p:nvSpPr>
            <p:cNvPr id="7" name="矩形 39"/>
            <p:cNvSpPr/>
            <p:nvPr/>
          </p:nvSpPr>
          <p:spPr>
            <a:xfrm>
              <a:off x="874712" y="3677812"/>
              <a:ext cx="8054213" cy="94795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要熟悉运放参数，搞清楚运放非理想特性，不要在换路上放个大的电位器，然后发现自激不知道咋解决</a:t>
              </a:r>
              <a:endParaRPr dirty="0"/>
            </a:p>
          </p:txBody>
        </p:sp>
        <p:sp>
          <p:nvSpPr>
            <p:cNvPr id="8" name="矩形 40"/>
            <p:cNvSpPr/>
            <p:nvPr/>
          </p:nvSpPr>
          <p:spPr>
            <a:xfrm>
              <a:off x="874712" y="3387780"/>
              <a:ext cx="2241974" cy="4033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全国大学生电子设计竞赛 - 知乎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22" name="图片 8"/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23" name="图片 9"/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24" name="文本框 25"/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硬件问题</a:t>
            </a:r>
            <a:endParaRPr/>
          </a:p>
        </p:txBody>
      </p:sp>
      <p:grpSp>
        <p:nvGrpSpPr>
          <p:cNvPr id="25" name="组合 38"/>
          <p:cNvGrpSpPr/>
          <p:nvPr/>
        </p:nvGrpSpPr>
        <p:grpSpPr>
          <a:xfrm>
            <a:off x="2735707" y="877851"/>
            <a:ext cx="8054212" cy="1699731"/>
            <a:chOff x="874712" y="3387780"/>
            <a:chExt cx="8054213" cy="1699732"/>
          </a:xfrm>
        </p:grpSpPr>
        <p:sp>
          <p:nvSpPr>
            <p:cNvPr id="26" name="矩形 39"/>
            <p:cNvSpPr/>
            <p:nvPr/>
          </p:nvSpPr>
          <p:spPr>
            <a:xfrm>
              <a:off x="874712" y="3677812"/>
              <a:ext cx="8054213" cy="140970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sz="24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宋体"/>
                  <a:cs typeface="+mn-cs"/>
                </a:rPr>
                <a:t>面对反馈环路的问题，尽可能减小环路，而不是怎么好焊接怎么来，以及可以在背面使用</a:t>
              </a:r>
              <a:r>
                <a:rPr lang="en-US" sz="24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宋体"/>
                  <a:cs typeface="+mn-cs"/>
                </a:rPr>
                <a:t>0603</a:t>
              </a:r>
              <a:r>
                <a:rPr lang="zh-CN" sz="240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宋体"/>
                  <a:cs typeface="+mn-cs"/>
                </a:rPr>
                <a:t>贴片电阻电容，以减小环路</a:t>
              </a:r>
              <a:endParaRPr/>
            </a:p>
          </p:txBody>
        </p:sp>
        <p:sp>
          <p:nvSpPr>
            <p:cNvPr id="27" name="矩形 40"/>
            <p:cNvSpPr/>
            <p:nvPr/>
          </p:nvSpPr>
          <p:spPr>
            <a:xfrm>
              <a:off x="874712" y="3387780"/>
              <a:ext cx="2241974" cy="3623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EE464C"/>
                  </a:solidFill>
                  <a:latin typeface="Arial"/>
                  <a:ea typeface="微软雅黑"/>
                </a:rPr>
                <a:t>洞洞板问题</a:t>
              </a:r>
              <a:endParaRPr/>
            </a:p>
          </p:txBody>
        </p:sp>
      </p:grpSp>
      <p:pic>
        <p:nvPicPr>
          <p:cNvPr id="28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757" y="2501226"/>
            <a:ext cx="5437387" cy="4083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1020-CD0F-FD02-8AD1-01FEEC30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全国大学生电子设计竞赛 - 知乎">
            <a:extLst>
              <a:ext uri="{FF2B5EF4-FFF2-40B4-BE49-F238E27FC236}">
                <a16:creationId xmlns:a16="http://schemas.microsoft.com/office/drawing/2014/main" id="{7CCCA97D-5450-CD98-1B3C-88F66476E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22" name="图片 8">
            <a:extLst>
              <a:ext uri="{FF2B5EF4-FFF2-40B4-BE49-F238E27FC236}">
                <a16:creationId xmlns:a16="http://schemas.microsoft.com/office/drawing/2014/main" id="{910E24D1-546A-5416-2F8E-C270F98431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23" name="图片 9">
            <a:extLst>
              <a:ext uri="{FF2B5EF4-FFF2-40B4-BE49-F238E27FC236}">
                <a16:creationId xmlns:a16="http://schemas.microsoft.com/office/drawing/2014/main" id="{1C0A6435-2D0D-6C56-F793-F28521C13E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24" name="文本框 25">
            <a:extLst>
              <a:ext uri="{FF2B5EF4-FFF2-40B4-BE49-F238E27FC236}">
                <a16:creationId xmlns:a16="http://schemas.microsoft.com/office/drawing/2014/main" id="{E3DDADE6-1AD9-D48E-1EDA-F83A11D7502C}"/>
              </a:ext>
            </a:extLst>
          </p:cNvPr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硬件问题</a:t>
            </a:r>
            <a:endParaRPr dirty="0"/>
          </a:p>
        </p:txBody>
      </p:sp>
      <p:sp>
        <p:nvSpPr>
          <p:cNvPr id="3" name="矩形 16">
            <a:extLst>
              <a:ext uri="{FF2B5EF4-FFF2-40B4-BE49-F238E27FC236}">
                <a16:creationId xmlns:a16="http://schemas.microsoft.com/office/drawing/2014/main" id="{171BFD09-2C5E-D5FD-C0A7-A797F6DC276A}"/>
              </a:ext>
            </a:extLst>
          </p:cNvPr>
          <p:cNvSpPr/>
          <p:nvPr/>
        </p:nvSpPr>
        <p:spPr>
          <a:xfrm>
            <a:off x="2551676" y="1373221"/>
            <a:ext cx="8054213" cy="13911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不要乱采购，网上不知道啥时候，也不知正确与否的方案不要乱抄，你要有自己的考量，你要清楚一个电路是为了做什么，比如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2015F-AGC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的问题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D4674D-6CEF-0BDD-BE20-4FCDC9D65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29" y="2824909"/>
            <a:ext cx="5439015" cy="31877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DE799BE-E3F4-D40A-AB18-6405C0898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237" y="3027610"/>
            <a:ext cx="6610233" cy="139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9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全国大学生电子设计竞赛 - 知乎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31" name="图片 8"/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32" name="图片 9"/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33" name="文本框 25"/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软件问题</a:t>
            </a:r>
            <a:endParaRPr/>
          </a:p>
        </p:txBody>
      </p:sp>
      <p:grpSp>
        <p:nvGrpSpPr>
          <p:cNvPr id="34" name="组合 5"/>
          <p:cNvGrpSpPr/>
          <p:nvPr/>
        </p:nvGrpSpPr>
        <p:grpSpPr>
          <a:xfrm>
            <a:off x="2735707" y="877852"/>
            <a:ext cx="8054213" cy="786899"/>
            <a:chOff x="874712" y="3387780"/>
            <a:chExt cx="8054213" cy="786899"/>
          </a:xfrm>
        </p:grpSpPr>
        <p:sp>
          <p:nvSpPr>
            <p:cNvPr id="35" name="矩形 6"/>
            <p:cNvSpPr/>
            <p:nvPr/>
          </p:nvSpPr>
          <p:spPr>
            <a:xfrm>
              <a:off x="874712" y="3677812"/>
              <a:ext cx="8054213" cy="49686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你如果没有做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TI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题的打算，单片机类建议换为</a:t>
              </a:r>
              <a:r>
                <a:rPr lang="en-US" altLang="zh-CN" sz="240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stm</a:t>
              </a:r>
              <a:endPara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10"/>
            <p:cNvSpPr/>
            <p:nvPr/>
          </p:nvSpPr>
          <p:spPr>
            <a:xfrm>
              <a:off x="874712" y="3387780"/>
              <a:ext cx="2241974" cy="3623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EE464C"/>
                  </a:solidFill>
                  <a:latin typeface="Arial"/>
                  <a:ea typeface="微软雅黑"/>
                </a:rPr>
                <a:t>开发板问题</a:t>
              </a:r>
              <a:endParaRPr/>
            </a:p>
          </p:txBody>
        </p:sp>
      </p:grpSp>
      <p:grpSp>
        <p:nvGrpSpPr>
          <p:cNvPr id="37" name="组合 12"/>
          <p:cNvGrpSpPr/>
          <p:nvPr/>
        </p:nvGrpSpPr>
        <p:grpSpPr>
          <a:xfrm>
            <a:off x="2735707" y="1759976"/>
            <a:ext cx="8054213" cy="786899"/>
            <a:chOff x="874712" y="3387780"/>
            <a:chExt cx="8054213" cy="786899"/>
          </a:xfrm>
        </p:grpSpPr>
        <p:sp>
          <p:nvSpPr>
            <p:cNvPr id="38" name="矩形 13"/>
            <p:cNvSpPr/>
            <p:nvPr/>
          </p:nvSpPr>
          <p:spPr>
            <a:xfrm>
              <a:off x="874712" y="3677812"/>
              <a:ext cx="8054213" cy="49686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中断里面不要放过多的执行代码</a:t>
              </a:r>
              <a:endParaRPr/>
            </a:p>
          </p:txBody>
        </p:sp>
        <p:sp>
          <p:nvSpPr>
            <p:cNvPr id="39" name="矩形 14"/>
            <p:cNvSpPr/>
            <p:nvPr/>
          </p:nvSpPr>
          <p:spPr>
            <a:xfrm>
              <a:off x="874712" y="3387780"/>
              <a:ext cx="2241974" cy="3623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EE464C"/>
                  </a:solidFill>
                  <a:latin typeface="Arial"/>
                  <a:ea typeface="微软雅黑"/>
                </a:rPr>
                <a:t>中断问题</a:t>
              </a:r>
              <a:endParaRPr/>
            </a:p>
          </p:txBody>
        </p:sp>
      </p:grpSp>
      <p:grpSp>
        <p:nvGrpSpPr>
          <p:cNvPr id="40" name="组合 15"/>
          <p:cNvGrpSpPr/>
          <p:nvPr/>
        </p:nvGrpSpPr>
        <p:grpSpPr>
          <a:xfrm>
            <a:off x="2735707" y="2635827"/>
            <a:ext cx="8054213" cy="786899"/>
            <a:chOff x="874712" y="3387780"/>
            <a:chExt cx="8054213" cy="786899"/>
          </a:xfrm>
        </p:grpSpPr>
        <p:sp>
          <p:nvSpPr>
            <p:cNvPr id="41" name="矩形 16"/>
            <p:cNvSpPr/>
            <p:nvPr/>
          </p:nvSpPr>
          <p:spPr>
            <a:xfrm>
              <a:off x="874712" y="3677812"/>
              <a:ext cx="8054213" cy="49686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一定注意调试器，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UART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模块的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5V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不要接到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3.3V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上去</a:t>
              </a:r>
              <a:endParaRPr dirty="0"/>
            </a:p>
          </p:txBody>
        </p:sp>
        <p:sp>
          <p:nvSpPr>
            <p:cNvPr id="42" name="矩形 17"/>
            <p:cNvSpPr/>
            <p:nvPr/>
          </p:nvSpPr>
          <p:spPr>
            <a:xfrm>
              <a:off x="874712" y="3387780"/>
              <a:ext cx="2241974" cy="3623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EE464C"/>
                  </a:solidFill>
                  <a:latin typeface="Arial"/>
                  <a:ea typeface="微软雅黑"/>
                </a:rPr>
                <a:t>接线问题</a:t>
              </a:r>
              <a:endParaRPr dirty="0"/>
            </a:p>
          </p:txBody>
        </p:sp>
      </p:grpSp>
      <p:sp>
        <p:nvSpPr>
          <p:cNvPr id="2" name="矩形 16">
            <a:extLst>
              <a:ext uri="{FF2B5EF4-FFF2-40B4-BE49-F238E27FC236}">
                <a16:creationId xmlns:a16="http://schemas.microsoft.com/office/drawing/2014/main" id="{93409E2C-6CF7-CC13-A0B0-085842A0CD8D}"/>
              </a:ext>
            </a:extLst>
          </p:cNvPr>
          <p:cNvSpPr/>
          <p:nvPr/>
        </p:nvSpPr>
        <p:spPr>
          <a:xfrm>
            <a:off x="2735707" y="3712758"/>
            <a:ext cx="8054213" cy="5047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模块驱动找不到的你要自己写，看数据手册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全国大学生电子设计竞赛 - 知乎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45" name="图片 8"/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46" name="图片 9"/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47" name="文本框 25"/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材料采购</a:t>
            </a:r>
            <a:endParaRPr/>
          </a:p>
        </p:txBody>
      </p:sp>
      <p:sp>
        <p:nvSpPr>
          <p:cNvPr id="6" name="矩形 16">
            <a:extLst>
              <a:ext uri="{FF2B5EF4-FFF2-40B4-BE49-F238E27FC236}">
                <a16:creationId xmlns:a16="http://schemas.microsoft.com/office/drawing/2014/main" id="{26C5A49F-4EEA-75BB-97D2-6B26BD85F6B2}"/>
              </a:ext>
            </a:extLst>
          </p:cNvPr>
          <p:cNvSpPr/>
          <p:nvPr/>
        </p:nvSpPr>
        <p:spPr>
          <a:xfrm>
            <a:off x="1738955" y="1131961"/>
            <a:ext cx="7342823" cy="94795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常用的连接器，需要自己准备一些，如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SMA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、同轴线、排针、电源连接器</a:t>
            </a:r>
            <a:endParaRPr dirty="0"/>
          </a:p>
        </p:txBody>
      </p:sp>
      <p:sp>
        <p:nvSpPr>
          <p:cNvPr id="7" name="矩形 16">
            <a:extLst>
              <a:ext uri="{FF2B5EF4-FFF2-40B4-BE49-F238E27FC236}">
                <a16:creationId xmlns:a16="http://schemas.microsoft.com/office/drawing/2014/main" id="{604957FA-ED06-D8A2-79A0-5BBF3DA327D0}"/>
              </a:ext>
            </a:extLst>
          </p:cNvPr>
          <p:cNvSpPr/>
          <p:nvPr/>
        </p:nvSpPr>
        <p:spPr>
          <a:xfrm>
            <a:off x="1689303" y="2998943"/>
            <a:ext cx="7342823" cy="94795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淘宝有些店铺全是假芯片，有些则很贵或者不是实际价格，推荐华富联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959842-BC27-42E5-B1AC-1A4374759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488" y="-1"/>
            <a:ext cx="3756235" cy="6858000"/>
          </a:xfrm>
          <a:prstGeom prst="rect">
            <a:avLst/>
          </a:prstGeom>
        </p:spPr>
      </p:pic>
      <p:sp>
        <p:nvSpPr>
          <p:cNvPr id="12" name="矩形 16">
            <a:extLst>
              <a:ext uri="{FF2B5EF4-FFF2-40B4-BE49-F238E27FC236}">
                <a16:creationId xmlns:a16="http://schemas.microsoft.com/office/drawing/2014/main" id="{13DF68E9-03B7-49E8-BA5E-BF6D62279867}"/>
              </a:ext>
            </a:extLst>
          </p:cNvPr>
          <p:cNvSpPr/>
          <p:nvPr/>
        </p:nvSpPr>
        <p:spPr>
          <a:xfrm>
            <a:off x="1689303" y="2154583"/>
            <a:ext cx="7342823" cy="94391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第三周了，后续信号组杜邦线的采购一律不通过</a:t>
            </a:r>
            <a:endParaRPr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160F0E6-5E11-4ABF-87DA-B4242716A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20" y="5368089"/>
            <a:ext cx="5993678" cy="6530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01AA8B-8E02-4C58-91AF-E78CAC8BCD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95" y="6097166"/>
            <a:ext cx="5715966" cy="67027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44E6A59-F01E-40C9-87C3-0A365B4B056C}"/>
              </a:ext>
            </a:extLst>
          </p:cNvPr>
          <p:cNvSpPr/>
          <p:nvPr/>
        </p:nvSpPr>
        <p:spPr>
          <a:xfrm>
            <a:off x="1651375" y="3880045"/>
            <a:ext cx="7342823" cy="13911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不要买一些很老的芯片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，大部分厂家官方都不推荐使用了，你去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ADI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TI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官网找选型表寻找新的、性能更好的芯片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2" descr="全国大学生电子设计竞赛 - 知乎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50" name="图片 8"/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51" name="图片 9"/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52" name="文本框 25"/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测评</a:t>
            </a:r>
            <a:endParaRPr/>
          </a:p>
        </p:txBody>
      </p:sp>
      <p:grpSp>
        <p:nvGrpSpPr>
          <p:cNvPr id="58" name="组合 14"/>
          <p:cNvGrpSpPr/>
          <p:nvPr/>
        </p:nvGrpSpPr>
        <p:grpSpPr>
          <a:xfrm>
            <a:off x="3329023" y="2287561"/>
            <a:ext cx="6724544" cy="2559692"/>
            <a:chOff x="874712" y="3387780"/>
            <a:chExt cx="6724544" cy="2559692"/>
          </a:xfrm>
        </p:grpSpPr>
        <p:sp>
          <p:nvSpPr>
            <p:cNvPr id="59" name="矩形 15"/>
            <p:cNvSpPr/>
            <p:nvPr/>
          </p:nvSpPr>
          <p:spPr>
            <a:xfrm>
              <a:off x="874712" y="3677812"/>
              <a:ext cx="6724544" cy="22696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不要把单片机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/ZYNQ reset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按键作为你测评的开始案件，一旦发现程序进行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reset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，全部从头开始测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同样，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不要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在测试切换项目的时候给单片机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断电重启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严格排查死机问题</a:t>
              </a:r>
              <a:endParaRPr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矩形 16"/>
            <p:cNvSpPr/>
            <p:nvPr/>
          </p:nvSpPr>
          <p:spPr>
            <a:xfrm>
              <a:off x="874712" y="3387780"/>
              <a:ext cx="2241974" cy="4033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endParaRPr dirty="0"/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3329023" y="1305004"/>
            <a:ext cx="65741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注意恢复时间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sz="24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半小时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，你可以充分的利用这个时间进行校准后，恢复，确认没问题了在进行测评</a:t>
            </a:r>
            <a:endParaRPr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8E48-E7B1-F341-1C9D-B4914F83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2" descr="全国大学生电子设计竞赛 - 知乎">
            <a:extLst>
              <a:ext uri="{FF2B5EF4-FFF2-40B4-BE49-F238E27FC236}">
                <a16:creationId xmlns:a16="http://schemas.microsoft.com/office/drawing/2014/main" id="{45544C52-7840-38B7-7057-CCAAD2E28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50" name="图片 8">
            <a:extLst>
              <a:ext uri="{FF2B5EF4-FFF2-40B4-BE49-F238E27FC236}">
                <a16:creationId xmlns:a16="http://schemas.microsoft.com/office/drawing/2014/main" id="{1ECE5D56-EC8A-FB11-28C0-66FACC8A57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51" name="图片 9">
            <a:extLst>
              <a:ext uri="{FF2B5EF4-FFF2-40B4-BE49-F238E27FC236}">
                <a16:creationId xmlns:a16="http://schemas.microsoft.com/office/drawing/2014/main" id="{2B71F93D-6D9F-AF33-7B87-AD97C92CFDC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52" name="文本框 25">
            <a:extLst>
              <a:ext uri="{FF2B5EF4-FFF2-40B4-BE49-F238E27FC236}">
                <a16:creationId xmlns:a16="http://schemas.microsoft.com/office/drawing/2014/main" id="{CE3D6D4A-34CC-C427-E6A8-198D93F9C848}"/>
              </a:ext>
            </a:extLst>
          </p:cNvPr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报告</a:t>
            </a:r>
            <a:endParaRPr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CC6FF9-00F5-4A80-5DD8-CE78A533D41C}"/>
              </a:ext>
            </a:extLst>
          </p:cNvPr>
          <p:cNvSpPr txBox="1"/>
          <p:nvPr/>
        </p:nvSpPr>
        <p:spPr>
          <a:xfrm>
            <a:off x="2451516" y="1847830"/>
            <a:ext cx="81754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1，格式，这次很多报告的基本格式没问题了，但是要注意字体，英文全部新罗马，中文宋体，不要出现混搭的情况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41EDDB-7D9C-4FDB-8C33-D17DED869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55" y="4349703"/>
            <a:ext cx="5029458" cy="91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5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64" name="图片 8"/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65" name="图片 9"/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66" name="文本框 25"/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报告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044B5E-7DDB-5AB5-F52F-73CBF80558EE}"/>
              </a:ext>
            </a:extLst>
          </p:cNvPr>
          <p:cNvSpPr txBox="1"/>
          <p:nvPr/>
        </p:nvSpPr>
        <p:spPr>
          <a:xfrm>
            <a:off x="2564187" y="1203910"/>
            <a:ext cx="771258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内容，内容要有逻辑，下定论要给出参考、名词解释、方案对比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不要有包含关系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不要有包含关系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理论分析不要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AI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生成后直接扔上去，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AI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在专业一点的领域有些地方就是在瞎扯，一眼就能看出问题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EE872A-9D71-44BF-B839-B3B0A0FD1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57" y="3906606"/>
            <a:ext cx="5467631" cy="19114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DF3432-8A18-4F44-AEE4-DF19517F4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488" y="3998661"/>
            <a:ext cx="5670841" cy="1733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80BC-A0FF-CB04-0AF0-18C867B8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44B762AD-E35E-FC8E-CBC2-67576519A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64" name="图片 8">
            <a:extLst>
              <a:ext uri="{FF2B5EF4-FFF2-40B4-BE49-F238E27FC236}">
                <a16:creationId xmlns:a16="http://schemas.microsoft.com/office/drawing/2014/main" id="{9B95C30A-19C7-9D71-D8B4-156FF7160B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65" name="图片 9">
            <a:extLst>
              <a:ext uri="{FF2B5EF4-FFF2-40B4-BE49-F238E27FC236}">
                <a16:creationId xmlns:a16="http://schemas.microsoft.com/office/drawing/2014/main" id="{4E961592-7160-C9C9-509F-6210FF41F0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66" name="文本框 25">
            <a:extLst>
              <a:ext uri="{FF2B5EF4-FFF2-40B4-BE49-F238E27FC236}">
                <a16:creationId xmlns:a16="http://schemas.microsoft.com/office/drawing/2014/main" id="{4F29C9D5-B51D-8B9A-740F-C43F9E0D6515}"/>
              </a:ext>
            </a:extLst>
          </p:cNvPr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报告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532934-8B66-20EE-C404-B1F2106885B5}"/>
              </a:ext>
            </a:extLst>
          </p:cNvPr>
          <p:cNvSpPr txBox="1"/>
          <p:nvPr/>
        </p:nvSpPr>
        <p:spPr>
          <a:xfrm>
            <a:off x="3061929" y="1022466"/>
            <a:ext cx="71574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3，图片，图片要清晰（最好矢量图），图片中的字体字号有相信要求，流程图也有标准，不是乱画的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图片不要有颜色，背景要透明，仅有黑白二色，所有图片字体保持一致，清晰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59280F-78CA-4C1C-A079-6997DCCFE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93" y="3542963"/>
            <a:ext cx="3753043" cy="2298818"/>
          </a:xfrm>
          <a:prstGeom prst="rect">
            <a:avLst/>
          </a:prstGeom>
        </p:spPr>
      </p:pic>
      <p:pic>
        <p:nvPicPr>
          <p:cNvPr id="12" name="圖片 10" descr="9f3c6a83e19811e78828887d3d97ceb3-removebg-preview">
            <a:extLst>
              <a:ext uri="{FF2B5EF4-FFF2-40B4-BE49-F238E27FC236}">
                <a16:creationId xmlns:a16="http://schemas.microsoft.com/office/drawing/2014/main" id="{29711DA8-7F84-4B80-A02E-A9343D87E8B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644110" y="3116937"/>
            <a:ext cx="5273040" cy="315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7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26671-4658-1089-3B1D-001BEF12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5EC4AFCD-ADCD-727B-D875-03DE3DBEE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64" name="图片 8">
            <a:extLst>
              <a:ext uri="{FF2B5EF4-FFF2-40B4-BE49-F238E27FC236}">
                <a16:creationId xmlns:a16="http://schemas.microsoft.com/office/drawing/2014/main" id="{EE9EEB11-5028-EADB-3E31-D6C381E026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65" name="图片 9">
            <a:extLst>
              <a:ext uri="{FF2B5EF4-FFF2-40B4-BE49-F238E27FC236}">
                <a16:creationId xmlns:a16="http://schemas.microsoft.com/office/drawing/2014/main" id="{C0AA3E68-554D-0F2E-96A7-5D57E73875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66" name="文本框 25">
            <a:extLst>
              <a:ext uri="{FF2B5EF4-FFF2-40B4-BE49-F238E27FC236}">
                <a16:creationId xmlns:a16="http://schemas.microsoft.com/office/drawing/2014/main" id="{F141D488-124F-E87A-C117-6C222B373B29}"/>
              </a:ext>
            </a:extLst>
          </p:cNvPr>
          <p:cNvSpPr txBox="1"/>
          <p:nvPr/>
        </p:nvSpPr>
        <p:spPr>
          <a:xfrm>
            <a:off x="4592806" y="282212"/>
            <a:ext cx="334479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defRPr/>
            </a:pPr>
            <a:r>
              <a:rPr lang="zh-CN" altLang="en-US" sz="3200" b="1" dirty="0">
                <a:solidFill>
                  <a:prstClr val="black"/>
                </a:solidFill>
              </a:rPr>
              <a:t>报告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7BFCC2-CCF9-70F6-9CAF-197DD6824F1B}"/>
              </a:ext>
            </a:extLst>
          </p:cNvPr>
          <p:cNvSpPr txBox="1"/>
          <p:nvPr/>
        </p:nvSpPr>
        <p:spPr>
          <a:xfrm>
            <a:off x="3174520" y="1144429"/>
            <a:ext cx="78557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4，表格，表格应该是三线形式，三线的粗细均有要求，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测试方案后要紧跟测试结果，不要分成两段单独写的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4C6DF7-75B1-4D5F-97B0-8DD4979FF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547" y="2411539"/>
            <a:ext cx="4254398" cy="440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93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516</Words>
  <Application>Microsoft Office PowerPoint</Application>
  <PresentationFormat>宽屏</PresentationFormat>
  <Paragraphs>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梓超 高</cp:lastModifiedBy>
  <cp:revision>15</cp:revision>
  <dcterms:created xsi:type="dcterms:W3CDTF">2025-07-09T18:34:52Z</dcterms:created>
  <dcterms:modified xsi:type="dcterms:W3CDTF">2025-07-16T05:23:44Z</dcterms:modified>
</cp:coreProperties>
</file>